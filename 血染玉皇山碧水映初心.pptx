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4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146304" cy="2377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188720"/>
            <a:ext cx="969264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血染玉皇山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碧水映初心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—— 从“突围”到“守井”的初心传承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257800"/>
            <a:ext cx="96926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郧阳区南化塘镇  红色宣讲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7E7D8"/>
                </a:solidFill>
                <a:latin typeface="WenQuanYi Zen Hei"/>
                <a:ea typeface="WenQuanYi Zen Hei"/>
                <a:cs typeface="WenQuanYi Zen Hei"/>
              </a:rPr>
              <a:t>湖北省首批重点革命老区乡镇 · 南水北调中线水源涵养地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08760"/>
            <a:ext cx="2926080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1143000" cy="109728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1430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03120"/>
            <a:ext cx="86868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血战南化塘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解放战争第一枪在这里打响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1143000" cy="109728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1430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429000"/>
            <a:ext cx="86868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守水护水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新时代南化塘人的使命担当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754880"/>
            <a:ext cx="114300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11430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754880"/>
            <a:ext cx="86868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赓续传承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红色美丽村庄的绿色发展之路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6E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64592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987552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血战南化塘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解放战争第一枪在这里打响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一、血战南化塘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中原突围 · 玉皇山殊死激战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766560" cy="4846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1946年6月，蒋介石悍然撕毁停战协定，调集30万重兵围困中原解放区，全面内战爆发。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7月15日，中原突围部队在南化塘镇玉皇山，与数倍于我军的国民党精锐部队展开殊死激战。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敌军占据所有制高点，四面合围；我军连同警卫连不过四个半团，被压制在鲍鱼沟的山沟里，形势极其被动。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6E1111"/>
                </a:solidFill>
                <a:latin typeface="WenQuanYi Zen Hei"/>
                <a:ea typeface="WenQuanYi Zen Hei"/>
                <a:cs typeface="WenQuanYi Zen Hei"/>
              </a:rPr>
              <a:t>遵照毛主席“生存第一、胜利第一”的指示，将士们五六次集团冲锋、前赴后继、浴血奋战。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91640"/>
            <a:ext cx="3840480" cy="4572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691640"/>
            <a:ext cx="3840480" cy="5029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691640"/>
            <a:ext cx="38404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战斗关键词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423160"/>
            <a:ext cx="33832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30万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敌军围困中原解放区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355848"/>
            <a:ext cx="33832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3天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激战杀出一条血路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288536"/>
            <a:ext cx="33832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打开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入陕的生命大门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221224"/>
            <a:ext cx="33832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粉碎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“三天全歼中原军”美梦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一、血战南化塘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青山埋忠骨 · 红色铸底色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6E1111"/>
                </a:solidFill>
                <a:latin typeface="WenQuanYi Zen Hei"/>
                <a:ea typeface="WenQuanYi Zen Hei"/>
                <a:cs typeface="WenQuanYi Zen Hei"/>
              </a:rPr>
              <a:t>400多名革命烈士长眠于南化塘的青山绿水之间。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徐向前元帅亲笔题写碑名、李先念主席撰写碑文的革命烈士陵园巍然矗立；玉皇山战斗遗址上那枚弹孔，是突围精神的象征，激励一代又一代南化塘人铭记历史、砥砺前行。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3520440" cy="219456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3520440" cy="1097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3108960" cy="1645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400+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革命烈士长眠于此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931920"/>
            <a:ext cx="3520440" cy="219456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3931920"/>
            <a:ext cx="3520440" cy="1097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97680"/>
            <a:ext cx="3108960" cy="1645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27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湖北省首批重点革命老区乡镇之一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931920"/>
            <a:ext cx="3520440" cy="219456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931920"/>
            <a:ext cx="3520440" cy="1097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297680"/>
            <a:ext cx="3108960" cy="1645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一枚弹孔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突围精神的永恒象征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红色，是南化塘最厚重的底色；传承，是南化塘人最坚定的选择。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4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64592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987552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守水护水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新时代南化塘人的使命担当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二、守水护水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硝烟散尽 · 初心如磐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时光流转，硝烟早已散尽，但南化塘人对这片土地的热爱从未改变。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5330"/>
                </a:solidFill>
                <a:latin typeface="WenQuanYi Zen Hei"/>
                <a:ea typeface="WenQuanYi Zen Hei"/>
                <a:cs typeface="WenQuanYi Zen Hei"/>
              </a:rPr>
              <a:t>南化塘人正以另一种方式守护着这片红色热土——守水护水，确保一库碧水永续北送。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023360"/>
            <a:ext cx="3108960" cy="14630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23360"/>
            <a:ext cx="3108960" cy="1463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突围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0D9D9"/>
                </a:solidFill>
                <a:latin typeface="WenQuanYi Zen Hei"/>
                <a:ea typeface="WenQuanYi Zen Hei"/>
                <a:cs typeface="WenQuanYi Zen Hei"/>
              </a:rPr>
              <a:t>革命先辈 浴血奋战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26280" y="4526280"/>
            <a:ext cx="3154680" cy="4572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069080"/>
            <a:ext cx="3154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变的是战场，不变的是初心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4023360"/>
            <a:ext cx="3108960" cy="146304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3108960" cy="1463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守井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9ECE0"/>
                </a:solidFill>
                <a:latin typeface="WenQuanYi Zen Hei"/>
                <a:ea typeface="WenQuanYi Zen Hei"/>
                <a:cs typeface="WenQuanYi Zen Hei"/>
              </a:rPr>
              <a:t>新时代人 守水护水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二、守水护水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守井人 · 王忠启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200400" cy="4572000"/>
          </a:xfrm>
          <a:prstGeom prst="rect">
            <a:avLst/>
          </a:prstGeom>
          <a:solidFill>
            <a:srgbClr val="14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4572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王忠启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78岁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D9ECE0"/>
                </a:solidFill>
                <a:latin typeface="WenQuanYi Zen Hei"/>
                <a:ea typeface="WenQuanYi Zen Hei"/>
                <a:cs typeface="WenQuanYi Zen Hei"/>
              </a:rPr>
              <a:t>老党员 · 退伍老兵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9ECE0"/>
                </a:solidFill>
                <a:latin typeface="WenQuanYi Zen Hei"/>
                <a:ea typeface="WenQuanYi Zen Hei"/>
                <a:cs typeface="WenQuanYi Zen Hei"/>
              </a:rPr>
              <a:t>长新水库护水员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737360"/>
            <a:ext cx="740664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1977年，退伍4年的他成了长新水库的一名护水员。水库修成时留下100多亩裸露山体，逢雨泥水顺坡流进水库。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他偷偷拿出全部80元退伍安置费，买了1000公斤橡子，种下第一批树种。老父亲骂他不会过日子，可他认准的事，九头牛也拉不回来。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40多年义务植树13万株，裸露的石山披上青翠新装。2001年留守的7人仅剩他一人，他干脆把家搬到了水库边上。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5330"/>
                </a:solidFill>
                <a:latin typeface="WenQuanYi Zen Hei"/>
                <a:ea typeface="WenQuanYi Zen Hei"/>
                <a:cs typeface="WenQuanYi Zen Hei"/>
              </a:rPr>
              <a:t>“我看到水库绿茵茵的，像穿上了新衣裳，我知足了，不后悔！”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二、守水护水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一生坚守 · 数字见证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6040" cy="219456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6040" cy="109728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60604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47年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守护水库的日日夜夜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606040" cy="219456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606040" cy="109728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60604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17000+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个日夜与绿水青山为伍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606040" cy="219456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606040" cy="109728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03120"/>
            <a:ext cx="260604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13万株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义务植树成片成行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828800"/>
            <a:ext cx="2606040" cy="219456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828800"/>
            <a:ext cx="2606040" cy="109728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103120"/>
            <a:ext cx="260604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80元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退伍安置费全部购买树种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10927080" cy="155448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80560"/>
            <a:ext cx="146304" cy="1554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10424160" cy="1554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2024年  王忠启被评为十堰市“最美守井人”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E6F2EA"/>
                </a:solidFill>
                <a:latin typeface="WenQuanYi Zen Hei"/>
                <a:ea typeface="WenQuanYi Zen Hei"/>
                <a:cs typeface="WenQuanYi Zen Hei"/>
              </a:rPr>
              <a:t>守护好这片绿水青山，就是对红色基因最好的传承。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4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64592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987552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赓续传承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红色美丽村庄的绿色发展之路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三、赓续传承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玉皇山村 · 从深度贫困到红色美丽村庄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今天的玉皇山村，已从曾经的深度贫困村，蝶变为全国首批红色美丽村庄建设试点。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红色文化广场、冲锋号雕塑、战斗遗址公园，让红色记忆深深镌刻在这片热土上。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3520440" cy="2286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474720"/>
            <a:ext cx="3520440" cy="1097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310896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全国首批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红色美丽村庄建设试点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474720"/>
            <a:ext cx="3520440" cy="2286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3474720"/>
            <a:ext cx="3520440" cy="109728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39"/>
            <a:ext cx="310896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9E1B1B"/>
                </a:solidFill>
                <a:latin typeface="WenQuanYi Zen Hei"/>
                <a:ea typeface="WenQuanYi Zen Hei"/>
                <a:cs typeface="WenQuanYi Zen Hei"/>
              </a:rPr>
              <a:t>老区精神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玉皇山战斗纪念馆获评教育基地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474720"/>
            <a:ext cx="3520440" cy="2286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474720"/>
            <a:ext cx="3520440" cy="109728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749039"/>
            <a:ext cx="3108960" cy="1828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E7A46"/>
                </a:solidFill>
                <a:latin typeface="WenQuanYi Zen Hei"/>
                <a:ea typeface="WenQuanYi Zen Hei"/>
                <a:cs typeface="WenQuanYi Zen Hei"/>
              </a:rPr>
              <a:t>5万人次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纪念馆年接待游客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10789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三、赓续传承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践行“两山”理念 · 绿色发展富民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WenQuanYi Zen Hei"/>
                <a:ea typeface="WenQuanYi Zen Hei"/>
                <a:cs typeface="WenQuanYi Zen Hei"/>
              </a:rPr>
              <a:t>南化塘镇深入践行“绿水青山就是金山银山”理念，滔河南化塘段综合治理加快推进，城乡供水一体化南化水厂等一批重点民生项目相继落地。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566160"/>
            <a:ext cx="4297680" cy="21945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566160"/>
            <a:ext cx="3840480" cy="2194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红色是底气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0D9D9"/>
                </a:solidFill>
                <a:latin typeface="WenQuanYi Zen Hei"/>
                <a:ea typeface="WenQuanYi Zen Hei"/>
                <a:cs typeface="WenQuanYi Zen Hei"/>
              </a:rPr>
              <a:t>将红色资源转化为发展动能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3566160"/>
            <a:ext cx="4297680" cy="219456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566160"/>
            <a:ext cx="3840480" cy="2194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绿色是未来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9ECE0"/>
                </a:solidFill>
                <a:latin typeface="WenQuanYi Zen Hei"/>
                <a:ea typeface="WenQuanYi Zen Hei"/>
                <a:cs typeface="WenQuanYi Zen Hei"/>
              </a:rPr>
              <a:t>将绿色生态转化为富民产业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A5A5A"/>
                </a:solidFill>
                <a:latin typeface="WenQuanYi Zen Hei"/>
                <a:ea typeface="WenQuanYi Zen Hei"/>
                <a:cs typeface="WenQuanYi Zen Hei"/>
              </a:rPr>
              <a:t>昔日的革命老区，正彰显红色底气、奔赴绿色未来。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4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2412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从“突围”到“守井”，从“战斗”到“守护”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600200"/>
            <a:ext cx="2743200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241280" cy="3017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80年前，革命先辈用鲜血和生命在南化塘杀出一条血路，实现了伟大的“突围”；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今天，我们接过历史的接力棒，守好一库碧水、确保永续北送。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传承红色基因，赓续精神血脉，像守护生命一样守护每一滴水，像珍视历史一样珍视每一片绿——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102412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在南水北调这项世纪工程中，书写属于我们这一代人的担当与荣光！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463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谢谢大家！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9A227"/>
                </a:solidFill>
                <a:latin typeface="WenQuanYi Zen Hei"/>
                <a:ea typeface="WenQuanYi Zen Hei"/>
                <a:cs typeface="WenQuanYi Zen Hei"/>
              </a:rPr>
              <a:t>血染玉皇山 · 碧水映初心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9ECE0"/>
                </a:solidFill>
                <a:latin typeface="WenQuanYi Zen Hei"/>
                <a:ea typeface="WenQuanYi Zen Hei"/>
                <a:cs typeface="WenQuanYi Zen Hei"/>
              </a:rPr>
              <a:t>郧阳区南化塘镇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